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Unbounded"/>
      <p:regular r:id="rId15"/>
    </p:embeddedFont>
    <p:embeddedFont>
      <p:font typeface="Unbounded"/>
      <p:regular r:id="rId16"/>
    </p:embeddedFont>
    <p:embeddedFont>
      <p:font typeface="Cabin"/>
      <p:regular r:id="rId17"/>
    </p:embeddedFont>
    <p:embeddedFont>
      <p:font typeface="Cabin"/>
      <p:regular r:id="rId18"/>
    </p:embeddedFont>
    <p:embeddedFont>
      <p:font typeface="Cabin"/>
      <p:regular r:id="rId19"/>
    </p:embeddedFont>
    <p:embeddedFont>
      <p:font typeface="Cabin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474113"/>
            <a:ext cx="7468553" cy="281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Memory Management: Segmentation and Paging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649153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This presentation explores segmentation and paging in memory management.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4124" y="5684401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We cover address translation, diagrams, and real-world examples.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6324124" y="6354485"/>
            <a:ext cx="382905" cy="382905"/>
          </a:xfrm>
          <a:prstGeom prst="roundRect">
            <a:avLst>
              <a:gd name="adj" fmla="val 23878209"/>
            </a:avLst>
          </a:prstGeom>
          <a:noFill/>
          <a:ln w="7620">
            <a:solidFill>
              <a:srgbClr val="4D4D5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744" y="6362105"/>
            <a:ext cx="367665" cy="3676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26687" y="6336625"/>
            <a:ext cx="2563178" cy="418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3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by Chinmayee Rana</a:t>
            </a:r>
            <a:endParaRPr lang="en-US" sz="2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179909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 is Segmentation?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2946916"/>
            <a:ext cx="3614618" cy="2123242"/>
          </a:xfrm>
          <a:prstGeom prst="roundRect">
            <a:avLst>
              <a:gd name="adj" fmla="val 1691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6563439" y="318623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Logical division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63439" y="3681770"/>
            <a:ext cx="31359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Memory is divided into variable-sized segments per program structure.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10178058" y="2946916"/>
            <a:ext cx="3614618" cy="2123242"/>
          </a:xfrm>
          <a:prstGeom prst="roundRect">
            <a:avLst>
              <a:gd name="adj" fmla="val 1691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10417373" y="318623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Segments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17373" y="3681770"/>
            <a:ext cx="31359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Each segment represents a logical unit like code, data, or stack.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324124" y="5309473"/>
            <a:ext cx="7468553" cy="1740218"/>
          </a:xfrm>
          <a:prstGeom prst="roundRect">
            <a:avLst>
              <a:gd name="adj" fmla="val 2063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6563439" y="554878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Segment Table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63439" y="6044327"/>
            <a:ext cx="698992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Maps segment numbers to physical address with base and limit values.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64806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Segmentation Address Translation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3415070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937974" y="3473053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615559" y="3497342"/>
            <a:ext cx="280689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Step 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15559" y="3992880"/>
            <a:ext cx="280689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Logical address split into segment number and offset.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4721662" y="3415070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9" name="Text 6"/>
          <p:cNvSpPr/>
          <p:nvPr/>
        </p:nvSpPr>
        <p:spPr>
          <a:xfrm>
            <a:off x="4821912" y="3473053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99497" y="3497342"/>
            <a:ext cx="280689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Step 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99497" y="3992880"/>
            <a:ext cx="280689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Check offset against segment limit for validity.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837724" y="5620703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3" name="Text 10"/>
          <p:cNvSpPr/>
          <p:nvPr/>
        </p:nvSpPr>
        <p:spPr>
          <a:xfrm>
            <a:off x="937974" y="5678686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615559" y="570297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Step 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615559" y="6198513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Add segment base to offset to get physical address.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868811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 is Paging?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417111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Fixed-size pages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762381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Memory is divided into equal-sized pages.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614761" y="417111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Page table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14761" y="4762381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Maps virtual pages to physical frames in memory.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0432" y="649367"/>
            <a:ext cx="7495937" cy="138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Paging Address Translation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6575227" y="2387441"/>
            <a:ext cx="30480" cy="5192673"/>
          </a:xfrm>
          <a:prstGeom prst="roundRect">
            <a:avLst>
              <a:gd name="adj" fmla="val 115874"/>
            </a:avLst>
          </a:prstGeom>
          <a:solidFill>
            <a:srgbClr val="49606E"/>
          </a:solidFill>
          <a:ln/>
        </p:spPr>
      </p:sp>
      <p:sp>
        <p:nvSpPr>
          <p:cNvPr id="5" name="Shape 2"/>
          <p:cNvSpPr/>
          <p:nvPr/>
        </p:nvSpPr>
        <p:spPr>
          <a:xfrm>
            <a:off x="6809601" y="2636996"/>
            <a:ext cx="706279" cy="30480"/>
          </a:xfrm>
          <a:prstGeom prst="roundRect">
            <a:avLst>
              <a:gd name="adj" fmla="val 115874"/>
            </a:avLst>
          </a:prstGeom>
          <a:solidFill>
            <a:srgbClr val="49606E"/>
          </a:solidFill>
          <a:ln/>
        </p:spPr>
      </p:sp>
      <p:sp>
        <p:nvSpPr>
          <p:cNvPr id="6" name="Shape 3"/>
          <p:cNvSpPr/>
          <p:nvPr/>
        </p:nvSpPr>
        <p:spPr>
          <a:xfrm>
            <a:off x="6310372" y="2387441"/>
            <a:ext cx="529709" cy="529709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7" name="Text 4"/>
          <p:cNvSpPr/>
          <p:nvPr/>
        </p:nvSpPr>
        <p:spPr>
          <a:xfrm>
            <a:off x="6409015" y="2444532"/>
            <a:ext cx="332303" cy="415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52517" y="2468285"/>
            <a:ext cx="3592235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Divide logical address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752517" y="2955727"/>
            <a:ext cx="6053852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Split into page number and page offset.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809601" y="4052888"/>
            <a:ext cx="706279" cy="30480"/>
          </a:xfrm>
          <a:prstGeom prst="roundRect">
            <a:avLst>
              <a:gd name="adj" fmla="val 115874"/>
            </a:avLst>
          </a:prstGeom>
          <a:solidFill>
            <a:srgbClr val="49606E"/>
          </a:solidFill>
          <a:ln/>
        </p:spPr>
      </p:sp>
      <p:sp>
        <p:nvSpPr>
          <p:cNvPr id="11" name="Shape 8"/>
          <p:cNvSpPr/>
          <p:nvPr/>
        </p:nvSpPr>
        <p:spPr>
          <a:xfrm>
            <a:off x="6310372" y="3803333"/>
            <a:ext cx="529709" cy="529709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2" name="Text 9"/>
          <p:cNvSpPr/>
          <p:nvPr/>
        </p:nvSpPr>
        <p:spPr>
          <a:xfrm>
            <a:off x="6409015" y="3860423"/>
            <a:ext cx="332303" cy="415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752517" y="3884176"/>
            <a:ext cx="2769989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Lookup frame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7752517" y="4371618"/>
            <a:ext cx="6053852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Page number indexes the page table to find frame.</a:t>
            </a:r>
            <a:endParaRPr lang="en-US" sz="1850" dirty="0"/>
          </a:p>
        </p:txBody>
      </p:sp>
      <p:sp>
        <p:nvSpPr>
          <p:cNvPr id="15" name="Shape 12"/>
          <p:cNvSpPr/>
          <p:nvPr/>
        </p:nvSpPr>
        <p:spPr>
          <a:xfrm>
            <a:off x="6809601" y="5468779"/>
            <a:ext cx="706279" cy="30480"/>
          </a:xfrm>
          <a:prstGeom prst="roundRect">
            <a:avLst>
              <a:gd name="adj" fmla="val 115874"/>
            </a:avLst>
          </a:prstGeom>
          <a:solidFill>
            <a:srgbClr val="49606E"/>
          </a:solidFill>
          <a:ln/>
        </p:spPr>
      </p:sp>
      <p:sp>
        <p:nvSpPr>
          <p:cNvPr id="16" name="Shape 13"/>
          <p:cNvSpPr/>
          <p:nvPr/>
        </p:nvSpPr>
        <p:spPr>
          <a:xfrm>
            <a:off x="6310372" y="5219224"/>
            <a:ext cx="529709" cy="529709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7" name="Text 14"/>
          <p:cNvSpPr/>
          <p:nvPr/>
        </p:nvSpPr>
        <p:spPr>
          <a:xfrm>
            <a:off x="6409015" y="5276314"/>
            <a:ext cx="332303" cy="415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752517" y="5300067"/>
            <a:ext cx="4462105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Calculate physical address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7752517" y="5787509"/>
            <a:ext cx="6053852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Add frame base to page offset.</a:t>
            </a:r>
            <a:endParaRPr lang="en-US" sz="1850" dirty="0"/>
          </a:p>
        </p:txBody>
      </p:sp>
      <p:sp>
        <p:nvSpPr>
          <p:cNvPr id="20" name="Shape 17"/>
          <p:cNvSpPr/>
          <p:nvPr/>
        </p:nvSpPr>
        <p:spPr>
          <a:xfrm>
            <a:off x="6809601" y="6884670"/>
            <a:ext cx="706279" cy="30480"/>
          </a:xfrm>
          <a:prstGeom prst="roundRect">
            <a:avLst>
              <a:gd name="adj" fmla="val 115874"/>
            </a:avLst>
          </a:prstGeom>
          <a:solidFill>
            <a:srgbClr val="49606E"/>
          </a:solidFill>
          <a:ln/>
        </p:spPr>
      </p:sp>
      <p:sp>
        <p:nvSpPr>
          <p:cNvPr id="21" name="Shape 18"/>
          <p:cNvSpPr/>
          <p:nvPr/>
        </p:nvSpPr>
        <p:spPr>
          <a:xfrm>
            <a:off x="6310372" y="6635115"/>
            <a:ext cx="529709" cy="529709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22" name="Text 19"/>
          <p:cNvSpPr/>
          <p:nvPr/>
        </p:nvSpPr>
        <p:spPr>
          <a:xfrm>
            <a:off x="6409015" y="6692205"/>
            <a:ext cx="332303" cy="415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7752517" y="6715958"/>
            <a:ext cx="2769989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Access memory</a:t>
            </a:r>
            <a:endParaRPr lang="en-US" sz="2150" dirty="0"/>
          </a:p>
        </p:txBody>
      </p:sp>
      <p:sp>
        <p:nvSpPr>
          <p:cNvPr id="24" name="Text 21"/>
          <p:cNvSpPr/>
          <p:nvPr/>
        </p:nvSpPr>
        <p:spPr>
          <a:xfrm>
            <a:off x="7752517" y="7203400"/>
            <a:ext cx="6053852" cy="37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Physical address accesses the required data.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467928"/>
            <a:ext cx="819078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Segmentation vs Paging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77023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Segmentation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36149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Variable size segments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82822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Supports logical program view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529494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Can cause external fragmentation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614761" y="377023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Paging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14761" y="436149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Fixed size pages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614761" y="482822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Eliminates external fragmentation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614761" y="529494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May suffer internal fragmentation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170152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Combined Segmentation and Paging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641175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Systems combine segmentation and paging for flexibility and efficiency.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7724" y="5293400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Segments are divided into pages, allowing segmented logical view and paging benefits.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130379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Takeaways and Next Steps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2897386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1615559" y="2979658"/>
            <a:ext cx="280689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Segmentation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15559" y="3475196"/>
            <a:ext cx="280689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Logical division of memory with variable size, supports program structure.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4721662" y="2897386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5499497" y="2979658"/>
            <a:ext cx="280689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Paging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99497" y="3475196"/>
            <a:ext cx="280689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Fixed-size pages eliminate external fragmentation using page tables.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837724" y="5103019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1615559" y="5185291"/>
            <a:ext cx="287405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Combined Usage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615559" y="5680829"/>
            <a:ext cx="669071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Combines advantages of both for efficient and flexible memory management.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37724" y="6716078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Next, study real OS implementations and practice address translations.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2025-05-02T05:11:24Z</dcterms:created>
  <dcterms:modified xsi:type="dcterms:W3CDTF">2025-05-02T05:11:24Z</dcterms:modified>
</cp:coreProperties>
</file>